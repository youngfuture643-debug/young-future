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13"/>
  </p:notesMasterIdLst>
  <p:sldIdLst>
    <p:sldId id="256" r:id="rId2"/>
    <p:sldId id="260" r:id="rId3"/>
    <p:sldId id="261" r:id="rId4"/>
    <p:sldId id="262" r:id="rId5"/>
    <p:sldId id="273" r:id="rId6"/>
    <p:sldId id="275" r:id="rId7"/>
    <p:sldId id="276" r:id="rId8"/>
    <p:sldId id="277" r:id="rId9"/>
    <p:sldId id="278" r:id="rId10"/>
    <p:sldId id="268" r:id="rId11"/>
    <p:sldId id="272" r:id="rId12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MS PGothic" panose="020B0600070205080204" pitchFamily="34" charset="-128"/>
      <p:regular r:id="rId18"/>
    </p:embeddedFont>
    <p:embeddedFont>
      <p:font typeface="Arial Narrow" panose="020B0606020202030204" pitchFamily="34" charset="0"/>
      <p:regular r:id="rId19"/>
      <p:bold r:id="rId20"/>
      <p:italic r:id="rId21"/>
      <p:boldItalic r:id="rId22"/>
    </p:embeddedFont>
    <p:embeddedFont>
      <p:font typeface="Calibri Light" panose="020F0302020204030204" pitchFamily="34" charset="0"/>
      <p:regular r:id="rId23"/>
      <p: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4BC50D8-00C2-4B55-89BD-E62906BFA9D7}">
  <a:tblStyle styleId="{C4BC50D8-00C2-4B55-89BD-E62906BFA9D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" name="Google Shape;3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6" name="Google Shape;4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" name="Google Shape;4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9" name="Google Shape;49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" name="Google Shape;4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033568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" name="Google Shape;4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109611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" name="Google Shape;4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981826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" name="Google Shape;4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389034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" name="Google Shape;4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026094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1" name="Google Shape;6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5" name="Google Shape;74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 2">
  <p:cSld name="TITLE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1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25" name="Google Shape;25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TITLE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  <a:defRPr sz="3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4" r:id="rId4"/>
    <p:sldLayoutId id="214748365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3.jp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5">
            <a:extLst>
              <a:ext uri="{FF2B5EF4-FFF2-40B4-BE49-F238E27FC236}">
                <a16:creationId xmlns:a16="http://schemas.microsoft.com/office/drawing/2014/main" id="{37AC507C-8FA4-802C-085F-69A6CF4CEA2A}"/>
              </a:ext>
            </a:extLst>
          </p:cNvPr>
          <p:cNvSpPr txBox="1"/>
          <p:nvPr/>
        </p:nvSpPr>
        <p:spPr>
          <a:xfrm>
            <a:off x="510342" y="249684"/>
            <a:ext cx="6593299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5400" b="1" noProof="0" dirty="0" smtClean="0">
                <a:solidFill>
                  <a:srgbClr val="FFFFFF"/>
                </a:solidFill>
              </a:rPr>
              <a:t>Young </a:t>
            </a:r>
            <a:r>
              <a:rPr lang="es-CO" sz="5400" b="1" dirty="0" err="1">
                <a:solidFill>
                  <a:srgbClr val="FFFFFF"/>
                </a:solidFill>
              </a:rPr>
              <a:t>F</a:t>
            </a:r>
            <a:r>
              <a:rPr lang="es-CO" sz="5400" b="1" noProof="0" dirty="0" err="1" smtClean="0">
                <a:solidFill>
                  <a:srgbClr val="FFFFFF"/>
                </a:solidFill>
              </a:rPr>
              <a:t>uture</a:t>
            </a:r>
            <a:endParaRPr kumimoji="0" lang="es-CO" sz="5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6" name="CuadroTexto 6">
            <a:extLst>
              <a:ext uri="{FF2B5EF4-FFF2-40B4-BE49-F238E27FC236}">
                <a16:creationId xmlns:a16="http://schemas.microsoft.com/office/drawing/2014/main" id="{5BBD72BC-550D-2CC5-9CC7-6561AB61E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9691" y="1470031"/>
            <a:ext cx="6687996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s-CO" altLang="es-CO" sz="2800" b="1" dirty="0" smtClean="0">
                <a:solidFill>
                  <a:srgbClr val="FFD966"/>
                </a:solidFill>
                <a:latin typeface="Calibri Light" panose="020F0302020204030204" pitchFamily="34" charset="0"/>
              </a:rPr>
              <a:t>Mateo cano</a:t>
            </a:r>
          </a:p>
          <a:p>
            <a:pPr algn="ctr"/>
            <a:r>
              <a:rPr lang="es-CO" altLang="es-CO" sz="2800" b="1" dirty="0" smtClean="0">
                <a:solidFill>
                  <a:srgbClr val="FFD966"/>
                </a:solidFill>
                <a:latin typeface="Calibri Light" panose="020F0302020204030204" pitchFamily="34" charset="0"/>
              </a:rPr>
              <a:t>Tomas cano</a:t>
            </a:r>
          </a:p>
          <a:p>
            <a:pPr algn="ctr"/>
            <a:r>
              <a:rPr lang="es-CO" altLang="es-CO" sz="2800" b="1" dirty="0" smtClean="0">
                <a:solidFill>
                  <a:srgbClr val="FFD966"/>
                </a:solidFill>
                <a:latin typeface="Calibri Light" panose="020F0302020204030204" pitchFamily="34" charset="0"/>
              </a:rPr>
              <a:t>Danna </a:t>
            </a:r>
            <a:r>
              <a:rPr lang="es-CO" altLang="es-CO" sz="2800" b="1" dirty="0">
                <a:solidFill>
                  <a:srgbClr val="FFD966"/>
                </a:solidFill>
                <a:latin typeface="Calibri Light" panose="020F0302020204030204" pitchFamily="34" charset="0"/>
              </a:rPr>
              <a:t>J</a:t>
            </a:r>
            <a:r>
              <a:rPr lang="es-CO" altLang="es-CO" sz="2800" b="1" dirty="0" smtClean="0">
                <a:solidFill>
                  <a:srgbClr val="FFD966"/>
                </a:solidFill>
                <a:latin typeface="Calibri Light" panose="020F0302020204030204" pitchFamily="34" charset="0"/>
              </a:rPr>
              <a:t>imenez </a:t>
            </a:r>
          </a:p>
          <a:p>
            <a:pPr algn="ctr"/>
            <a:r>
              <a:rPr lang="es-CO" altLang="es-CO" sz="2800" b="1" dirty="0" smtClean="0">
                <a:solidFill>
                  <a:srgbClr val="FFD966"/>
                </a:solidFill>
                <a:latin typeface="Calibri Light" panose="020F0302020204030204" pitchFamily="34" charset="0"/>
              </a:rPr>
              <a:t>Andres Arboleda</a:t>
            </a:r>
          </a:p>
        </p:txBody>
      </p:sp>
      <p:sp>
        <p:nvSpPr>
          <p:cNvPr id="7" name="CuadroTexto 7">
            <a:extLst>
              <a:ext uri="{FF2B5EF4-FFF2-40B4-BE49-F238E27FC236}">
                <a16:creationId xmlns:a16="http://schemas.microsoft.com/office/drawing/2014/main" id="{5D7D8A4E-9824-9DA9-EEF1-826A7FF5A812}"/>
              </a:ext>
            </a:extLst>
          </p:cNvPr>
          <p:cNvSpPr txBox="1"/>
          <p:nvPr/>
        </p:nvSpPr>
        <p:spPr>
          <a:xfrm>
            <a:off x="1397628" y="3879947"/>
            <a:ext cx="6817684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0" cap="none" spc="80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°</a:t>
            </a:r>
            <a:endParaRPr kumimoji="0" lang="es-CO" sz="1200" b="1" i="0" u="none" strike="noStrike" kern="0" cap="none" spc="8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pic>
        <p:nvPicPr>
          <p:cNvPr id="2" name="image3.jpg">
            <a:extLst>
              <a:ext uri="{FF2B5EF4-FFF2-40B4-BE49-F238E27FC236}">
                <a16:creationId xmlns:a16="http://schemas.microsoft.com/office/drawing/2014/main" id="{79D08650-41A2-C8E2-1846-2874D22F07B6}"/>
              </a:ext>
            </a:extLst>
          </p:cNvPr>
          <p:cNvPicPr/>
          <p:nvPr/>
        </p:nvPicPr>
        <p:blipFill rotWithShape="1">
          <a:blip r:embed="rId4"/>
          <a:srcRect l="75951" t="14425" b="17892"/>
          <a:stretch/>
        </p:blipFill>
        <p:spPr bwMode="auto">
          <a:xfrm>
            <a:off x="6367580" y="221586"/>
            <a:ext cx="2569028" cy="130882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E942E35-5F17-EDA7-B0D4-83F5B69DA07A}"/>
              </a:ext>
            </a:extLst>
          </p:cNvPr>
          <p:cNvSpPr txBox="1"/>
          <p:nvPr/>
        </p:nvSpPr>
        <p:spPr>
          <a:xfrm>
            <a:off x="4564808" y="3479837"/>
            <a:ext cx="3087286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   Formar- Servir - Cuidar</a:t>
            </a:r>
            <a:endParaRPr lang="es-CO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4;p2">
            <a:extLst>
              <a:ext uri="{FF2B5EF4-FFF2-40B4-BE49-F238E27FC236}">
                <a16:creationId xmlns:a16="http://schemas.microsoft.com/office/drawing/2014/main" id="{E21A2A5D-0176-E205-C836-7C6BC73F3E26}"/>
              </a:ext>
            </a:extLst>
          </p:cNvPr>
          <p:cNvSpPr txBox="1"/>
          <p:nvPr/>
        </p:nvSpPr>
        <p:spPr>
          <a:xfrm>
            <a:off x="3825657" y="3294894"/>
            <a:ext cx="483256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PRESENTACIÓN DE PROPUESTA P</a:t>
            </a:r>
            <a:r>
              <a:rPr lang="en-US" sz="3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ROYECTO INTEGRADOR DE AULA -PIA-</a:t>
            </a:r>
            <a:endParaRPr sz="3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3.jpg">
            <a:extLst>
              <a:ext uri="{FF2B5EF4-FFF2-40B4-BE49-F238E27FC236}">
                <a16:creationId xmlns:a16="http://schemas.microsoft.com/office/drawing/2014/main" id="{ABF071AA-8CB0-D6F7-FE56-495288F771E7}"/>
              </a:ext>
            </a:extLst>
          </p:cNvPr>
          <p:cNvPicPr/>
          <p:nvPr/>
        </p:nvPicPr>
        <p:blipFill rotWithShape="1">
          <a:blip r:embed="rId4"/>
          <a:srcRect l="75951" t="14425" b="17892"/>
          <a:stretch/>
        </p:blipFill>
        <p:spPr bwMode="auto">
          <a:xfrm>
            <a:off x="4858547" y="1008669"/>
            <a:ext cx="3085319" cy="15696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5"/>
          <p:cNvSpPr txBox="1"/>
          <p:nvPr/>
        </p:nvSpPr>
        <p:spPr>
          <a:xfrm>
            <a:off x="1479950" y="984325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  <a:defRPr sz="2800"/>
            </a:pPr>
            <a:r>
              <a:rPr lang="es" sz="3400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PROBLEMA O </a:t>
            </a:r>
            <a:r>
              <a:rPr lang="es" sz="3400" b="1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NECESIDAD</a:t>
            </a:r>
            <a:endParaRPr sz="3400" b="1" i="0" u="none" strike="noStrike" cap="none" dirty="0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6" name="Google Shape;496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10;p5">
            <a:extLst>
              <a:ext uri="{FF2B5EF4-FFF2-40B4-BE49-F238E27FC236}">
                <a16:creationId xmlns:a16="http://schemas.microsoft.com/office/drawing/2014/main" id="{A8AE2FB6-62B4-5F75-4F30-1315B9E10AC6}"/>
              </a:ext>
            </a:extLst>
          </p:cNvPr>
          <p:cNvSpPr txBox="1"/>
          <p:nvPr/>
        </p:nvSpPr>
        <p:spPr>
          <a:xfrm>
            <a:off x="882483" y="1655125"/>
            <a:ext cx="7054667" cy="369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CO" sz="18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Buscamos ayudar a los jóvenes que tienen las dificultades para poder tomar decisiones sobre su futuro académico, financiero, como hoy en día existe una falta de información clara y accesible sobre universidades, becas, oportunidades laborales y educación financiera, lo que los puede llegar a limitar mucho.</a:t>
            </a:r>
          </a:p>
          <a:p>
            <a:pPr lvl="0" algn="just"/>
            <a:r>
              <a:rPr lang="es-CO" sz="18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Además, los jóvenes no cuentan con una plataforma que tenga todos estos recursos en un solo lugar, lo que los obliga a buscar información en diferentes sitios, generando confusión y desinformación.</a:t>
            </a:r>
          </a:p>
          <a:p>
            <a:pPr lvl="0" algn="just"/>
            <a:r>
              <a:rPr lang="es-CO" sz="18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Por esta razón, surge la necesidad de desarrollar una plataforma digital que centralice información sobre educación, economía y oportunidades, permitiendo a los jóvenes tomar decisiones mas informadas y mejorar su calidad de vida.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3.jpg">
            <a:extLst>
              <a:ext uri="{FF2B5EF4-FFF2-40B4-BE49-F238E27FC236}">
                <a16:creationId xmlns:a16="http://schemas.microsoft.com/office/drawing/2014/main" id="{2914684C-8741-0C88-7AE6-1B5B34A05FF0}"/>
              </a:ext>
            </a:extLst>
          </p:cNvPr>
          <p:cNvPicPr/>
          <p:nvPr/>
        </p:nvPicPr>
        <p:blipFill rotWithShape="1">
          <a:blip r:embed="rId6"/>
          <a:srcRect l="75951" t="14425" b="17892"/>
          <a:stretch/>
        </p:blipFill>
        <p:spPr bwMode="auto">
          <a:xfrm>
            <a:off x="7601337" y="75657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6"/>
          <p:cNvSpPr/>
          <p:nvPr/>
        </p:nvSpPr>
        <p:spPr>
          <a:xfrm>
            <a:off x="4450499" y="2958005"/>
            <a:ext cx="1403700" cy="1403700"/>
          </a:xfrm>
          <a:prstGeom prst="ellipse">
            <a:avLst/>
          </a:prstGeom>
          <a:solidFill>
            <a:srgbClr val="01B3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2" name="Google Shape;502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05473" y="1622224"/>
            <a:ext cx="3303600" cy="2203800"/>
          </a:xfrm>
          <a:prstGeom prst="foldedCorner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503" name="Google Shape;503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24925" y="1055400"/>
            <a:ext cx="1293851" cy="129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44150" y="3924100"/>
            <a:ext cx="69672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16"/>
          <p:cNvSpPr txBox="1"/>
          <p:nvPr/>
        </p:nvSpPr>
        <p:spPr>
          <a:xfrm>
            <a:off x="793450" y="898788"/>
            <a:ext cx="3810000" cy="14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s-ES" sz="3400" b="0" i="0" u="none" strike="noStrike" cap="none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MARCO TEÓRICO Y ESTADO </a:t>
            </a:r>
            <a:r>
              <a:rPr lang="es-ES" sz="3400" b="1" i="0" u="none" strike="noStrike" cap="none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Y ESTADO DEL ARTE</a:t>
            </a:r>
          </a:p>
        </p:txBody>
      </p:sp>
      <p:cxnSp>
        <p:nvCxnSpPr>
          <p:cNvPr id="506" name="Google Shape;506;p16"/>
          <p:cNvCxnSpPr/>
          <p:nvPr/>
        </p:nvCxnSpPr>
        <p:spPr>
          <a:xfrm>
            <a:off x="793450" y="2403750"/>
            <a:ext cx="3571500" cy="0"/>
          </a:xfrm>
          <a:prstGeom prst="straightConnector1">
            <a:avLst/>
          </a:prstGeom>
          <a:noFill/>
          <a:ln w="9525" cap="flat" cmpd="sng">
            <a:solidFill>
              <a:srgbClr val="01B3C2"/>
            </a:solidFill>
            <a:prstDash val="solid"/>
            <a:round/>
            <a:headEnd type="none" w="sm" len="sm"/>
            <a:tailEnd type="oval" w="med" len="med"/>
          </a:ln>
        </p:spPr>
      </p:cxnSp>
      <p:sp>
        <p:nvSpPr>
          <p:cNvPr id="507" name="Google Shape;507;p16"/>
          <p:cNvSpPr txBox="1"/>
          <p:nvPr/>
        </p:nvSpPr>
        <p:spPr>
          <a:xfrm>
            <a:off x="691192" y="3491880"/>
            <a:ext cx="3347100" cy="16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/>
            </a:pPr>
            <a:r>
              <a:rPr sz="1200" dirty="0">
                <a:latin typeface="Arial Narrow" panose="020B0606020202030204" pitchFamily="34" charset="0"/>
              </a:rPr>
              <a:t>• Orientación </a:t>
            </a:r>
            <a:r>
              <a:rPr sz="1200" dirty="0" err="1">
                <a:latin typeface="Arial Narrow" panose="020B0606020202030204" pitchFamily="34" charset="0"/>
              </a:rPr>
              <a:t>vocacional</a:t>
            </a:r>
            <a:r>
              <a:rPr sz="1200" dirty="0">
                <a:latin typeface="Arial Narrow" panose="020B0606020202030204" pitchFamily="34" charset="0"/>
              </a:rPr>
              <a:t>: </a:t>
            </a:r>
            <a:r>
              <a:rPr sz="1200" dirty="0" err="1">
                <a:latin typeface="Arial Narrow" panose="020B0606020202030204" pitchFamily="34" charset="0"/>
              </a:rPr>
              <a:t>proceso</a:t>
            </a:r>
            <a:r>
              <a:rPr sz="1200" dirty="0">
                <a:latin typeface="Arial Narrow" panose="020B0606020202030204" pitchFamily="34" charset="0"/>
              </a:rPr>
              <a:t> que </a:t>
            </a:r>
            <a:r>
              <a:rPr sz="1200" dirty="0" err="1">
                <a:latin typeface="Arial Narrow" panose="020B0606020202030204" pitchFamily="34" charset="0"/>
              </a:rPr>
              <a:t>ayuda</a:t>
            </a:r>
            <a:r>
              <a:rPr sz="1200" dirty="0">
                <a:latin typeface="Arial Narrow" panose="020B0606020202030204" pitchFamily="34" charset="0"/>
              </a:rPr>
              <a:t> a </a:t>
            </a:r>
            <a:r>
              <a:rPr sz="1200" dirty="0" err="1">
                <a:latin typeface="Arial Narrow" panose="020B0606020202030204" pitchFamily="34" charset="0"/>
              </a:rPr>
              <a:t>los</a:t>
            </a:r>
            <a:r>
              <a:rPr sz="1200" dirty="0">
                <a:latin typeface="Arial Narrow" panose="020B0606020202030204" pitchFamily="34" charset="0"/>
              </a:rPr>
              <a:t> </a:t>
            </a:r>
            <a:r>
              <a:rPr sz="1200" dirty="0" err="1">
                <a:latin typeface="Arial Narrow" panose="020B0606020202030204" pitchFamily="34" charset="0"/>
              </a:rPr>
              <a:t>jóvenes</a:t>
            </a:r>
            <a:r>
              <a:rPr sz="1200" dirty="0">
                <a:latin typeface="Arial Narrow" panose="020B0606020202030204" pitchFamily="34" charset="0"/>
              </a:rPr>
              <a:t> a </a:t>
            </a:r>
            <a:r>
              <a:rPr sz="1200" dirty="0" err="1">
                <a:latin typeface="Arial Narrow" panose="020B0606020202030204" pitchFamily="34" charset="0"/>
              </a:rPr>
              <a:t>identificar</a:t>
            </a:r>
            <a:r>
              <a:rPr sz="1200" dirty="0">
                <a:latin typeface="Arial Narrow" panose="020B0606020202030204" pitchFamily="34" charset="0"/>
              </a:rPr>
              <a:t> </a:t>
            </a:r>
            <a:r>
              <a:rPr sz="1200" dirty="0" err="1">
                <a:latin typeface="Arial Narrow" panose="020B0606020202030204" pitchFamily="34" charset="0"/>
              </a:rPr>
              <a:t>sus</a:t>
            </a:r>
            <a:r>
              <a:rPr sz="1200" dirty="0">
                <a:latin typeface="Arial Narrow" panose="020B0606020202030204" pitchFamily="34" charset="0"/>
              </a:rPr>
              <a:t> </a:t>
            </a:r>
            <a:r>
              <a:rPr sz="1200" dirty="0" err="1">
                <a:latin typeface="Arial Narrow" panose="020B0606020202030204" pitchFamily="34" charset="0"/>
              </a:rPr>
              <a:t>intereses</a:t>
            </a:r>
            <a:r>
              <a:rPr sz="1200" dirty="0">
                <a:latin typeface="Arial Narrow" panose="020B0606020202030204" pitchFamily="34" charset="0"/>
              </a:rPr>
              <a:t>, </a:t>
            </a:r>
            <a:r>
              <a:rPr sz="1200" dirty="0" err="1">
                <a:latin typeface="Arial Narrow" panose="020B0606020202030204" pitchFamily="34" charset="0"/>
              </a:rPr>
              <a:t>habilidades</a:t>
            </a:r>
            <a:r>
              <a:rPr sz="1200" dirty="0">
                <a:latin typeface="Arial Narrow" panose="020B0606020202030204" pitchFamily="34" charset="0"/>
              </a:rPr>
              <a:t> y </a:t>
            </a:r>
            <a:r>
              <a:rPr sz="1200" dirty="0" err="1">
                <a:latin typeface="Arial Narrow" panose="020B0606020202030204" pitchFamily="34" charset="0"/>
              </a:rPr>
              <a:t>opciones</a:t>
            </a:r>
            <a:r>
              <a:rPr sz="1200" dirty="0">
                <a:latin typeface="Arial Narrow" panose="020B0606020202030204" pitchFamily="34" charset="0"/>
              </a:rPr>
              <a:t> </a:t>
            </a:r>
            <a:r>
              <a:rPr sz="1200" dirty="0" err="1">
                <a:latin typeface="Arial Narrow" panose="020B0606020202030204" pitchFamily="34" charset="0"/>
              </a:rPr>
              <a:t>académicas</a:t>
            </a:r>
            <a:r>
              <a:rPr sz="1200" dirty="0">
                <a:latin typeface="Arial Narrow" panose="020B0606020202030204" pitchFamily="34" charset="0"/>
              </a:rPr>
              <a:t> y </a:t>
            </a:r>
            <a:r>
              <a:rPr sz="1200" dirty="0" err="1">
                <a:latin typeface="Arial Narrow" panose="020B0606020202030204" pitchFamily="34" charset="0"/>
              </a:rPr>
              <a:t>profesionales</a:t>
            </a:r>
            <a:r>
              <a:rPr sz="1200" dirty="0">
                <a:latin typeface="Arial Narrow" panose="020B0606020202030204" pitchFamily="34" charset="0"/>
              </a:rPr>
              <a:t>.</a:t>
            </a:r>
          </a:p>
          <a:p>
            <a:pPr>
              <a:defRPr sz="1400"/>
            </a:pPr>
            <a:r>
              <a:rPr sz="1200" dirty="0">
                <a:latin typeface="Arial Narrow" panose="020B0606020202030204" pitchFamily="34" charset="0"/>
              </a:rPr>
              <a:t>• </a:t>
            </a:r>
            <a:r>
              <a:rPr sz="1200" dirty="0" err="1">
                <a:latin typeface="Arial Narrow" panose="020B0606020202030204" pitchFamily="34" charset="0"/>
              </a:rPr>
              <a:t>Educación</a:t>
            </a:r>
            <a:r>
              <a:rPr sz="1200" dirty="0">
                <a:latin typeface="Arial Narrow" panose="020B0606020202030204" pitchFamily="34" charset="0"/>
              </a:rPr>
              <a:t> </a:t>
            </a:r>
            <a:r>
              <a:rPr sz="1200" dirty="0" err="1">
                <a:latin typeface="Arial Narrow" panose="020B0606020202030204" pitchFamily="34" charset="0"/>
              </a:rPr>
              <a:t>financiera</a:t>
            </a:r>
            <a:r>
              <a:rPr sz="1200" dirty="0">
                <a:latin typeface="Arial Narrow" panose="020B0606020202030204" pitchFamily="34" charset="0"/>
              </a:rPr>
              <a:t>: </a:t>
            </a:r>
            <a:r>
              <a:rPr sz="1200" dirty="0" err="1">
                <a:latin typeface="Arial Narrow" panose="020B0606020202030204" pitchFamily="34" charset="0"/>
              </a:rPr>
              <a:t>conjunto</a:t>
            </a:r>
            <a:r>
              <a:rPr sz="1200" dirty="0">
                <a:latin typeface="Arial Narrow" panose="020B0606020202030204" pitchFamily="34" charset="0"/>
              </a:rPr>
              <a:t> de </a:t>
            </a:r>
            <a:r>
              <a:rPr sz="1200" dirty="0" err="1">
                <a:latin typeface="Arial Narrow" panose="020B0606020202030204" pitchFamily="34" charset="0"/>
              </a:rPr>
              <a:t>conocimientos</a:t>
            </a:r>
            <a:r>
              <a:rPr sz="1200" dirty="0">
                <a:latin typeface="Arial Narrow" panose="020B0606020202030204" pitchFamily="34" charset="0"/>
              </a:rPr>
              <a:t> para </a:t>
            </a:r>
            <a:r>
              <a:rPr sz="1200" dirty="0" err="1">
                <a:latin typeface="Arial Narrow" panose="020B0606020202030204" pitchFamily="34" charset="0"/>
              </a:rPr>
              <a:t>administrar</a:t>
            </a:r>
            <a:r>
              <a:rPr sz="1200" dirty="0">
                <a:latin typeface="Arial Narrow" panose="020B0606020202030204" pitchFamily="34" charset="0"/>
              </a:rPr>
              <a:t> el </a:t>
            </a:r>
            <a:r>
              <a:rPr sz="1200" dirty="0" err="1">
                <a:latin typeface="Arial Narrow" panose="020B0606020202030204" pitchFamily="34" charset="0"/>
              </a:rPr>
              <a:t>dinero</a:t>
            </a:r>
            <a:r>
              <a:rPr sz="1200" dirty="0">
                <a:latin typeface="Arial Narrow" panose="020B0606020202030204" pitchFamily="34" charset="0"/>
              </a:rPr>
              <a:t>, </a:t>
            </a:r>
            <a:r>
              <a:rPr sz="1200" dirty="0" err="1">
                <a:latin typeface="Arial Narrow" panose="020B0606020202030204" pitchFamily="34" charset="0"/>
              </a:rPr>
              <a:t>ahorrar</a:t>
            </a:r>
            <a:r>
              <a:rPr sz="1200" dirty="0">
                <a:latin typeface="Arial Narrow" panose="020B0606020202030204" pitchFamily="34" charset="0"/>
              </a:rPr>
              <a:t>, </a:t>
            </a:r>
            <a:r>
              <a:rPr sz="1200" dirty="0" err="1">
                <a:latin typeface="Arial Narrow" panose="020B0606020202030204" pitchFamily="34" charset="0"/>
              </a:rPr>
              <a:t>invertir</a:t>
            </a:r>
            <a:r>
              <a:rPr sz="1200" dirty="0">
                <a:latin typeface="Arial Narrow" panose="020B0606020202030204" pitchFamily="34" charset="0"/>
              </a:rPr>
              <a:t> y </a:t>
            </a:r>
            <a:r>
              <a:rPr sz="1200" dirty="0" err="1">
                <a:latin typeface="Arial Narrow" panose="020B0606020202030204" pitchFamily="34" charset="0"/>
              </a:rPr>
              <a:t>tomar</a:t>
            </a:r>
            <a:r>
              <a:rPr sz="1200" dirty="0">
                <a:latin typeface="Arial Narrow" panose="020B0606020202030204" pitchFamily="34" charset="0"/>
              </a:rPr>
              <a:t> </a:t>
            </a:r>
            <a:r>
              <a:rPr sz="1200" dirty="0" err="1">
                <a:latin typeface="Arial Narrow" panose="020B0606020202030204" pitchFamily="34" charset="0"/>
              </a:rPr>
              <a:t>decisiones</a:t>
            </a:r>
            <a:r>
              <a:rPr sz="1200" dirty="0">
                <a:latin typeface="Arial Narrow" panose="020B0606020202030204" pitchFamily="34" charset="0"/>
              </a:rPr>
              <a:t> </a:t>
            </a:r>
            <a:r>
              <a:rPr sz="1200" dirty="0" err="1">
                <a:latin typeface="Arial Narrow" panose="020B0606020202030204" pitchFamily="34" charset="0"/>
              </a:rPr>
              <a:t>económicas</a:t>
            </a:r>
            <a:r>
              <a:rPr sz="1200" dirty="0">
                <a:latin typeface="Arial Narrow" panose="020B0606020202030204" pitchFamily="34" charset="0"/>
              </a:rPr>
              <a:t> </a:t>
            </a:r>
            <a:r>
              <a:rPr sz="1200" dirty="0" err="1">
                <a:latin typeface="Arial Narrow" panose="020B0606020202030204" pitchFamily="34" charset="0"/>
              </a:rPr>
              <a:t>responsables</a:t>
            </a:r>
            <a:r>
              <a:rPr sz="1200" dirty="0">
                <a:latin typeface="Arial Narrow" panose="020B0606020202030204" pitchFamily="34" charset="0"/>
              </a:rPr>
              <a:t>.</a:t>
            </a:r>
          </a:p>
          <a:p>
            <a:pPr>
              <a:defRPr sz="1400"/>
            </a:pPr>
            <a:r>
              <a:rPr sz="1200" dirty="0">
                <a:latin typeface="Arial Narrow" panose="020B0606020202030204" pitchFamily="34" charset="0"/>
              </a:rPr>
              <a:t>• </a:t>
            </a:r>
            <a:r>
              <a:rPr sz="1200" dirty="0" err="1">
                <a:latin typeface="Arial Narrow" panose="020B0606020202030204" pitchFamily="34" charset="0"/>
              </a:rPr>
              <a:t>Transformación</a:t>
            </a:r>
            <a:r>
              <a:rPr sz="1200" dirty="0">
                <a:latin typeface="Arial Narrow" panose="020B0606020202030204" pitchFamily="34" charset="0"/>
              </a:rPr>
              <a:t> digital: las </a:t>
            </a:r>
            <a:r>
              <a:rPr sz="1200" dirty="0" err="1">
                <a:latin typeface="Arial Narrow" panose="020B0606020202030204" pitchFamily="34" charset="0"/>
              </a:rPr>
              <a:t>plataformas</a:t>
            </a:r>
            <a:r>
              <a:rPr sz="1200" dirty="0">
                <a:latin typeface="Arial Narrow" panose="020B0606020202030204" pitchFamily="34" charset="0"/>
              </a:rPr>
              <a:t> web </a:t>
            </a:r>
            <a:r>
              <a:rPr sz="1200" dirty="0" err="1">
                <a:latin typeface="Arial Narrow" panose="020B0606020202030204" pitchFamily="34" charset="0"/>
              </a:rPr>
              <a:t>facilitan</a:t>
            </a:r>
            <a:r>
              <a:rPr sz="1200" dirty="0">
                <a:latin typeface="Arial Narrow" panose="020B0606020202030204" pitchFamily="34" charset="0"/>
              </a:rPr>
              <a:t> el </a:t>
            </a:r>
            <a:r>
              <a:rPr sz="1200" dirty="0" err="1">
                <a:latin typeface="Arial Narrow" panose="020B0606020202030204" pitchFamily="34" charset="0"/>
              </a:rPr>
              <a:t>acceso</a:t>
            </a:r>
            <a:r>
              <a:rPr sz="1200" dirty="0">
                <a:latin typeface="Arial Narrow" panose="020B0606020202030204" pitchFamily="34" charset="0"/>
              </a:rPr>
              <a:t> </a:t>
            </a:r>
            <a:r>
              <a:rPr sz="1200" dirty="0" err="1">
                <a:latin typeface="Arial Narrow" panose="020B0606020202030204" pitchFamily="34" charset="0"/>
              </a:rPr>
              <a:t>centralizado</a:t>
            </a:r>
            <a:r>
              <a:rPr sz="1200" dirty="0">
                <a:latin typeface="Arial Narrow" panose="020B0606020202030204" pitchFamily="34" charset="0"/>
              </a:rPr>
              <a:t> a </a:t>
            </a:r>
            <a:r>
              <a:rPr sz="1200" dirty="0" err="1">
                <a:latin typeface="Arial Narrow" panose="020B0606020202030204" pitchFamily="34" charset="0"/>
              </a:rPr>
              <a:t>información</a:t>
            </a:r>
            <a:r>
              <a:rPr sz="1200" dirty="0">
                <a:latin typeface="Arial Narrow" panose="020B0606020202030204" pitchFamily="34" charset="0"/>
              </a:rPr>
              <a:t> </a:t>
            </a:r>
            <a:r>
              <a:rPr sz="1200" dirty="0" err="1">
                <a:latin typeface="Arial Narrow" panose="020B0606020202030204" pitchFamily="34" charset="0"/>
              </a:rPr>
              <a:t>confiable</a:t>
            </a:r>
            <a:r>
              <a:rPr sz="1200" dirty="0">
                <a:latin typeface="Arial Narrow" panose="020B0606020202030204" pitchFamily="34" charset="0"/>
              </a:rPr>
              <a:t> y </a:t>
            </a:r>
            <a:r>
              <a:rPr sz="1200" dirty="0" err="1">
                <a:latin typeface="Arial Narrow" panose="020B0606020202030204" pitchFamily="34" charset="0"/>
              </a:rPr>
              <a:t>actualizada</a:t>
            </a:r>
            <a:r>
              <a:rPr sz="1200" dirty="0">
                <a:latin typeface="Arial Narrow" panose="020B0606020202030204" pitchFamily="34" charset="0"/>
              </a:rPr>
              <a:t>.</a:t>
            </a:r>
          </a:p>
          <a:p>
            <a:pPr>
              <a:defRPr sz="1400"/>
            </a:pPr>
            <a:r>
              <a:rPr sz="1200" dirty="0">
                <a:latin typeface="Arial Narrow" panose="020B0606020202030204" pitchFamily="34" charset="0"/>
              </a:rPr>
              <a:t>• Estado del arte: </a:t>
            </a:r>
            <a:r>
              <a:rPr sz="1200" dirty="0" err="1">
                <a:latin typeface="Arial Narrow" panose="020B0606020202030204" pitchFamily="34" charset="0"/>
              </a:rPr>
              <a:t>existen</a:t>
            </a:r>
            <a:r>
              <a:rPr sz="1200" dirty="0">
                <a:latin typeface="Arial Narrow" panose="020B0606020202030204" pitchFamily="34" charset="0"/>
              </a:rPr>
              <a:t> </a:t>
            </a:r>
            <a:r>
              <a:rPr sz="1200" dirty="0" err="1">
                <a:latin typeface="Arial Narrow" panose="020B0606020202030204" pitchFamily="34" charset="0"/>
              </a:rPr>
              <a:t>portales</a:t>
            </a:r>
            <a:r>
              <a:rPr sz="1200" dirty="0">
                <a:latin typeface="Arial Narrow" panose="020B0606020202030204" pitchFamily="34" charset="0"/>
              </a:rPr>
              <a:t> </a:t>
            </a:r>
            <a:r>
              <a:rPr sz="1200" dirty="0" err="1">
                <a:latin typeface="Arial Narrow" panose="020B0606020202030204" pitchFamily="34" charset="0"/>
              </a:rPr>
              <a:t>sobre</a:t>
            </a:r>
            <a:r>
              <a:rPr sz="1200" dirty="0">
                <a:latin typeface="Arial Narrow" panose="020B0606020202030204" pitchFamily="34" charset="0"/>
              </a:rPr>
              <a:t> universidades, </a:t>
            </a:r>
            <a:r>
              <a:rPr sz="1200" dirty="0" err="1">
                <a:latin typeface="Arial Narrow" panose="020B0606020202030204" pitchFamily="34" charset="0"/>
              </a:rPr>
              <a:t>becas</a:t>
            </a:r>
            <a:r>
              <a:rPr sz="1200" dirty="0">
                <a:latin typeface="Arial Narrow" panose="020B0606020202030204" pitchFamily="34" charset="0"/>
              </a:rPr>
              <a:t> y </a:t>
            </a:r>
            <a:r>
              <a:rPr sz="1200" dirty="0" err="1">
                <a:latin typeface="Arial Narrow" panose="020B0606020202030204" pitchFamily="34" charset="0"/>
              </a:rPr>
              <a:t>empleo</a:t>
            </a:r>
            <a:r>
              <a:rPr sz="1200" dirty="0">
                <a:latin typeface="Arial Narrow" panose="020B0606020202030204" pitchFamily="34" charset="0"/>
              </a:rPr>
              <a:t>, </a:t>
            </a:r>
            <a:r>
              <a:rPr sz="1200" dirty="0" err="1">
                <a:latin typeface="Arial Narrow" panose="020B0606020202030204" pitchFamily="34" charset="0"/>
              </a:rPr>
              <a:t>pero</a:t>
            </a:r>
            <a:r>
              <a:rPr sz="1200" dirty="0">
                <a:latin typeface="Arial Narrow" panose="020B0606020202030204" pitchFamily="34" charset="0"/>
              </a:rPr>
              <a:t> </a:t>
            </a:r>
            <a:r>
              <a:rPr sz="1200" dirty="0" err="1">
                <a:latin typeface="Arial Narrow" panose="020B0606020202030204" pitchFamily="34" charset="0"/>
              </a:rPr>
              <a:t>pocos</a:t>
            </a:r>
            <a:r>
              <a:rPr sz="1200" dirty="0">
                <a:latin typeface="Arial Narrow" panose="020B0606020202030204" pitchFamily="34" charset="0"/>
              </a:rPr>
              <a:t> </a:t>
            </a:r>
            <a:r>
              <a:rPr sz="1200" dirty="0" err="1">
                <a:latin typeface="Arial Narrow" panose="020B0606020202030204" pitchFamily="34" charset="0"/>
              </a:rPr>
              <a:t>integran</a:t>
            </a:r>
            <a:r>
              <a:rPr sz="1200" dirty="0">
                <a:latin typeface="Arial Narrow" panose="020B0606020202030204" pitchFamily="34" charset="0"/>
              </a:rPr>
              <a:t> </a:t>
            </a:r>
            <a:r>
              <a:rPr sz="1200" dirty="0" err="1">
                <a:latin typeface="Arial Narrow" panose="020B0606020202030204" pitchFamily="34" charset="0"/>
              </a:rPr>
              <a:t>orientación</a:t>
            </a:r>
            <a:r>
              <a:rPr sz="1200" dirty="0">
                <a:latin typeface="Arial Narrow" panose="020B0606020202030204" pitchFamily="34" charset="0"/>
              </a:rPr>
              <a:t> </a:t>
            </a:r>
            <a:r>
              <a:rPr sz="1200" dirty="0" err="1">
                <a:latin typeface="Arial Narrow" panose="020B0606020202030204" pitchFamily="34" charset="0"/>
              </a:rPr>
              <a:t>académica</a:t>
            </a:r>
            <a:r>
              <a:rPr sz="1200" dirty="0">
                <a:latin typeface="Arial Narrow" panose="020B0606020202030204" pitchFamily="34" charset="0"/>
              </a:rPr>
              <a:t>, </a:t>
            </a:r>
            <a:r>
              <a:rPr sz="1200" dirty="0" err="1">
                <a:latin typeface="Arial Narrow" panose="020B0606020202030204" pitchFamily="34" charset="0"/>
              </a:rPr>
              <a:t>educación</a:t>
            </a:r>
            <a:r>
              <a:rPr sz="1200" dirty="0">
                <a:latin typeface="Arial Narrow" panose="020B0606020202030204" pitchFamily="34" charset="0"/>
              </a:rPr>
              <a:t> </a:t>
            </a:r>
            <a:r>
              <a:rPr sz="1200" dirty="0" err="1">
                <a:latin typeface="Arial Narrow" panose="020B0606020202030204" pitchFamily="34" charset="0"/>
              </a:rPr>
              <a:t>financiera</a:t>
            </a:r>
            <a:r>
              <a:rPr sz="1200" dirty="0">
                <a:latin typeface="Arial Narrow" panose="020B0606020202030204" pitchFamily="34" charset="0"/>
              </a:rPr>
              <a:t> y </a:t>
            </a:r>
            <a:r>
              <a:rPr sz="1200" dirty="0" err="1">
                <a:latin typeface="Arial Narrow" panose="020B0606020202030204" pitchFamily="34" charset="0"/>
              </a:rPr>
              <a:t>oportunidades</a:t>
            </a:r>
            <a:r>
              <a:rPr sz="1200" dirty="0">
                <a:latin typeface="Arial Narrow" panose="020B0606020202030204" pitchFamily="34" charset="0"/>
              </a:rPr>
              <a:t> </a:t>
            </a:r>
            <a:r>
              <a:rPr sz="1200" dirty="0" err="1">
                <a:latin typeface="Arial Narrow" panose="020B0606020202030204" pitchFamily="34" charset="0"/>
              </a:rPr>
              <a:t>en</a:t>
            </a:r>
            <a:r>
              <a:rPr sz="1200" dirty="0">
                <a:latin typeface="Arial Narrow" panose="020B0606020202030204" pitchFamily="34" charset="0"/>
              </a:rPr>
              <a:t> un solo </a:t>
            </a:r>
            <a:r>
              <a:rPr sz="1200" dirty="0" err="1">
                <a:latin typeface="Arial Narrow" panose="020B0606020202030204" pitchFamily="34" charset="0"/>
              </a:rPr>
              <a:t>sitio</a:t>
            </a:r>
            <a:r>
              <a:rPr sz="1200" dirty="0">
                <a:latin typeface="Arial Narrow" panose="020B0606020202030204" pitchFamily="34" charset="0"/>
              </a:rPr>
              <a:t>.</a:t>
            </a:r>
          </a:p>
        </p:txBody>
      </p:sp>
      <p:pic>
        <p:nvPicPr>
          <p:cNvPr id="2" name="image3.jpg">
            <a:extLst>
              <a:ext uri="{FF2B5EF4-FFF2-40B4-BE49-F238E27FC236}">
                <a16:creationId xmlns:a16="http://schemas.microsoft.com/office/drawing/2014/main" id="{164BFC53-E411-163F-D7D2-ED799F8F0811}"/>
              </a:ext>
            </a:extLst>
          </p:cNvPr>
          <p:cNvPicPr/>
          <p:nvPr/>
        </p:nvPicPr>
        <p:blipFill rotWithShape="1">
          <a:blip r:embed="rId7"/>
          <a:srcRect l="75951" t="14425" b="17892"/>
          <a:stretch/>
        </p:blipFill>
        <p:spPr bwMode="auto">
          <a:xfrm>
            <a:off x="7601337" y="75657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5"/>
          <p:cNvSpPr txBox="1"/>
          <p:nvPr/>
        </p:nvSpPr>
        <p:spPr>
          <a:xfrm>
            <a:off x="1429943" y="486815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  <a:defRPr sz="2800"/>
            </a:pPr>
            <a:r>
              <a:rPr lang="es-CO" sz="3400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OBJETIVOS D</a:t>
            </a:r>
            <a:r>
              <a:rPr lang="es-CO" sz="3400" b="1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EL PROYECTO</a:t>
            </a:r>
          </a:p>
        </p:txBody>
      </p:sp>
      <p:pic>
        <p:nvPicPr>
          <p:cNvPr id="496" name="Google Shape;49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10;p5">
            <a:extLst>
              <a:ext uri="{FF2B5EF4-FFF2-40B4-BE49-F238E27FC236}">
                <a16:creationId xmlns:a16="http://schemas.microsoft.com/office/drawing/2014/main" id="{A8AE2FB6-62B4-5F75-4F30-1315B9E10AC6}"/>
              </a:ext>
            </a:extLst>
          </p:cNvPr>
          <p:cNvSpPr txBox="1"/>
          <p:nvPr/>
        </p:nvSpPr>
        <p:spPr>
          <a:xfrm>
            <a:off x="421481" y="1213706"/>
            <a:ext cx="8376374" cy="1954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defRPr/>
            </a:pPr>
            <a:r>
              <a:rPr lang="es-ES" sz="11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Objetivo General: </a:t>
            </a:r>
            <a:r>
              <a:rPr lang="es-ES" sz="1100" i="1" dirty="0">
                <a:latin typeface="Arial Narrow" panose="020B0606020202030204" pitchFamily="34" charset="0"/>
              </a:rPr>
              <a:t>Desarrollar una plataforma digital que integre información sobre universidades, educación financiera  y oportunidades, con el fin de orientar a los jóvenes en la toma de decisiones sobre su futuro académico, económico y profesional. </a:t>
            </a:r>
          </a:p>
          <a:p>
            <a:pPr algn="just">
              <a:defRPr/>
            </a:pPr>
            <a:endParaRPr lang="es-ES" sz="1100" i="1" dirty="0">
              <a:solidFill>
                <a:schemeClr val="accent6"/>
              </a:solidFill>
              <a:latin typeface="Arial Narrow" panose="020B0606020202030204" pitchFamily="34" charset="0"/>
            </a:endParaRPr>
          </a:p>
          <a:p>
            <a:pPr algn="just">
              <a:defRPr/>
            </a:pPr>
            <a:r>
              <a:rPr lang="es-ES" sz="11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Objetivos Específicos: </a:t>
            </a:r>
          </a:p>
          <a:p>
            <a:pPr algn="just">
              <a:defRPr/>
            </a:pPr>
            <a:endParaRPr lang="es-ES" sz="1100" i="1" dirty="0">
              <a:solidFill>
                <a:schemeClr val="bg2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 algn="just">
              <a:defRPr/>
            </a:pPr>
            <a:r>
              <a:rPr lang="es-ES" sz="1100" i="1" dirty="0">
                <a:solidFill>
                  <a:schemeClr val="bg2">
                    <a:lumMod val="50000"/>
                  </a:schemeClr>
                </a:solidFill>
                <a:latin typeface="Arial Narrow" panose="020B0606020202030204" pitchFamily="34" charset="0"/>
              </a:rPr>
              <a:t>Brindar información clara y accesible sobre universidades y programas académicos. </a:t>
            </a:r>
          </a:p>
          <a:p>
            <a:pPr algn="just">
              <a:defRPr/>
            </a:pPr>
            <a:endParaRPr lang="es-ES" sz="1100" i="1" dirty="0">
              <a:solidFill>
                <a:schemeClr val="bg2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 algn="just">
              <a:defRPr/>
            </a:pPr>
            <a:r>
              <a:rPr lang="es-ES" sz="1100" i="1" dirty="0">
                <a:solidFill>
                  <a:schemeClr val="bg2">
                    <a:lumMod val="50000"/>
                  </a:schemeClr>
                </a:solidFill>
                <a:latin typeface="Arial Narrow" panose="020B0606020202030204" pitchFamily="34" charset="0"/>
              </a:rPr>
              <a:t>Ofrecer herramientas básicas para la educación financiera en jóvenes.</a:t>
            </a:r>
          </a:p>
          <a:p>
            <a:pPr algn="just">
              <a:defRPr/>
            </a:pPr>
            <a:endParaRPr lang="es-ES" sz="1100" i="1" dirty="0">
              <a:solidFill>
                <a:schemeClr val="bg2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 algn="just">
              <a:defRPr/>
            </a:pPr>
            <a:r>
              <a:rPr lang="es-ES" sz="1100" i="1" dirty="0">
                <a:solidFill>
                  <a:schemeClr val="bg2">
                    <a:lumMod val="50000"/>
                  </a:schemeClr>
                </a:solidFill>
                <a:latin typeface="Arial Narrow" panose="020B0606020202030204" pitchFamily="34" charset="0"/>
              </a:rPr>
              <a:t>Diseñar una plataforma fácil de usar, dinámica y accesible.</a:t>
            </a:r>
            <a:endParaRPr lang="es-CO" sz="1100" i="1" dirty="0">
              <a:solidFill>
                <a:schemeClr val="bg2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3.jpg">
            <a:extLst>
              <a:ext uri="{FF2B5EF4-FFF2-40B4-BE49-F238E27FC236}">
                <a16:creationId xmlns:a16="http://schemas.microsoft.com/office/drawing/2014/main" id="{D4A1449B-7FD9-EC6B-8AE0-5738E142903C}"/>
              </a:ext>
            </a:extLst>
          </p:cNvPr>
          <p:cNvPicPr/>
          <p:nvPr/>
        </p:nvPicPr>
        <p:blipFill rotWithShape="1">
          <a:blip r:embed="rId5"/>
          <a:srcRect l="75951" t="14425" b="17892"/>
          <a:stretch/>
        </p:blipFill>
        <p:spPr bwMode="auto">
          <a:xfrm>
            <a:off x="7601337" y="75657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84127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5"/>
          <p:cNvSpPr txBox="1"/>
          <p:nvPr/>
        </p:nvSpPr>
        <p:spPr>
          <a:xfrm>
            <a:off x="1429943" y="486815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  <a:defRPr sz="2800"/>
            </a:pPr>
            <a:r>
              <a:rPr lang="es-CO" sz="3400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METODO</a:t>
            </a:r>
            <a:r>
              <a:rPr lang="es-CO" sz="3400" b="1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LOGÍA</a:t>
            </a:r>
          </a:p>
        </p:txBody>
      </p:sp>
      <p:pic>
        <p:nvPicPr>
          <p:cNvPr id="496" name="Google Shape;49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10;p5">
            <a:extLst>
              <a:ext uri="{FF2B5EF4-FFF2-40B4-BE49-F238E27FC236}">
                <a16:creationId xmlns:a16="http://schemas.microsoft.com/office/drawing/2014/main" id="{A8AE2FB6-62B4-5F75-4F30-1315B9E10AC6}"/>
              </a:ext>
            </a:extLst>
          </p:cNvPr>
          <p:cNvSpPr txBox="1"/>
          <p:nvPr/>
        </p:nvSpPr>
        <p:spPr>
          <a:xfrm>
            <a:off x="860822" y="1563750"/>
            <a:ext cx="7422356" cy="350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defRPr/>
            </a:pPr>
            <a:r>
              <a:rPr lang="es-ES" altLang="es-CO" sz="1800" dirty="0">
                <a:latin typeface="Calibri Light" panose="020F0302020204030204" pitchFamily="34" charset="0"/>
              </a:rPr>
              <a:t>El desarrollo del proyecto se llevara a cabo mediante una serie de etapas mediante una serie de etapas organizadas que permitirán cumplir con los objetivos presupuestos.</a:t>
            </a:r>
          </a:p>
          <a:p>
            <a:pPr lvl="0" algn="just">
              <a:defRPr/>
            </a:pPr>
            <a:endParaRPr lang="es-ES" altLang="es-CO" sz="1800" dirty="0">
              <a:latin typeface="Calibri Light" panose="020F0302020204030204" pitchFamily="34" charset="0"/>
            </a:endParaRPr>
          </a:p>
          <a:p>
            <a:pPr lvl="0" algn="just">
              <a:defRPr/>
            </a:pPr>
            <a:r>
              <a:rPr lang="es-ES" altLang="es-CO" sz="1800" dirty="0">
                <a:latin typeface="Calibri Light" panose="020F0302020204030204" pitchFamily="34" charset="0"/>
              </a:rPr>
              <a:t>Recolección de información: Se investigan universidades, becas, empleos y herramientas de educación financiera.</a:t>
            </a:r>
          </a:p>
          <a:p>
            <a:pPr lvl="0" algn="just">
              <a:defRPr/>
            </a:pPr>
            <a:endParaRPr lang="es-ES" altLang="es-CO" sz="1800" dirty="0">
              <a:latin typeface="Calibri Light" panose="020F0302020204030204" pitchFamily="34" charset="0"/>
            </a:endParaRPr>
          </a:p>
          <a:p>
            <a:pPr lvl="0" algn="just">
              <a:defRPr/>
            </a:pPr>
            <a:r>
              <a:rPr lang="es-ES" altLang="es-CO" sz="1800" dirty="0">
                <a:latin typeface="Calibri Light" panose="020F0302020204030204" pitchFamily="34" charset="0"/>
              </a:rPr>
              <a:t>Diseño de la plataforma: Se estructura la pagina web, definiendo sus sectores (universidades, finanzas, oportunidades).</a:t>
            </a:r>
          </a:p>
          <a:p>
            <a:pPr lvl="0" algn="just">
              <a:defRPr/>
            </a:pPr>
            <a:endParaRPr lang="es-ES" altLang="es-CO" sz="1800" dirty="0">
              <a:latin typeface="Calibri Light" panose="020F0302020204030204" pitchFamily="34" charset="0"/>
            </a:endParaRPr>
          </a:p>
          <a:p>
            <a:pPr lvl="0" algn="just">
              <a:defRPr/>
            </a:pPr>
            <a:r>
              <a:rPr lang="es-ES" altLang="es-CO" sz="1800" dirty="0">
                <a:latin typeface="Calibri Light" panose="020F0302020204030204" pitchFamily="34" charset="0"/>
              </a:rPr>
              <a:t>Desarrollo: Se crea la plataforma digital utilizando herramientas básicas como editores web plataformas como Google </a:t>
            </a:r>
            <a:r>
              <a:rPr lang="es-ES" altLang="es-CO" sz="1800" dirty="0" err="1">
                <a:latin typeface="Calibri Light" panose="020F0302020204030204" pitchFamily="34" charset="0"/>
              </a:rPr>
              <a:t>Sites</a:t>
            </a:r>
            <a:r>
              <a:rPr lang="es-ES" altLang="es-CO" sz="1800" dirty="0">
                <a:latin typeface="Calibri Light" panose="020F0302020204030204" pitchFamily="34" charset="0"/>
              </a:rPr>
              <a:t>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CO" sz="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3.jpg">
            <a:extLst>
              <a:ext uri="{FF2B5EF4-FFF2-40B4-BE49-F238E27FC236}">
                <a16:creationId xmlns:a16="http://schemas.microsoft.com/office/drawing/2014/main" id="{991F2E8A-87B5-8980-B181-49289935802F}"/>
              </a:ext>
            </a:extLst>
          </p:cNvPr>
          <p:cNvPicPr/>
          <p:nvPr/>
        </p:nvPicPr>
        <p:blipFill rotWithShape="1">
          <a:blip r:embed="rId5"/>
          <a:srcRect l="75951" t="14425" b="17892"/>
          <a:stretch/>
        </p:blipFill>
        <p:spPr bwMode="auto">
          <a:xfrm>
            <a:off x="7601337" y="81877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66640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5"/>
          <p:cNvSpPr txBox="1"/>
          <p:nvPr/>
        </p:nvSpPr>
        <p:spPr>
          <a:xfrm>
            <a:off x="1437087" y="1022596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  <a:defRPr sz="2800"/>
            </a:pPr>
            <a:r>
              <a:rPr lang="es-ES" sz="2800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s-CO" sz="2800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ESULTADOS Y PRODU</a:t>
            </a:r>
            <a:r>
              <a:rPr lang="es-CO" sz="2800" b="1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CTOS ESPERADOS</a:t>
            </a:r>
          </a:p>
        </p:txBody>
      </p:sp>
      <p:pic>
        <p:nvPicPr>
          <p:cNvPr id="496" name="Google Shape;49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10;p5">
            <a:extLst>
              <a:ext uri="{FF2B5EF4-FFF2-40B4-BE49-F238E27FC236}">
                <a16:creationId xmlns:a16="http://schemas.microsoft.com/office/drawing/2014/main" id="{A8AE2FB6-62B4-5F75-4F30-1315B9E10AC6}"/>
              </a:ext>
            </a:extLst>
          </p:cNvPr>
          <p:cNvSpPr txBox="1"/>
          <p:nvPr/>
        </p:nvSpPr>
        <p:spPr>
          <a:xfrm>
            <a:off x="609601" y="1693396"/>
            <a:ext cx="742235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s-ES" sz="12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Resultados</a:t>
            </a:r>
            <a:endParaRPr lang="en-US" sz="1200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CO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3.jpg">
            <a:extLst>
              <a:ext uri="{FF2B5EF4-FFF2-40B4-BE49-F238E27FC236}">
                <a16:creationId xmlns:a16="http://schemas.microsoft.com/office/drawing/2014/main" id="{F09F653C-4155-EB92-C018-3EEE9E7FD3EA}"/>
              </a:ext>
            </a:extLst>
          </p:cNvPr>
          <p:cNvPicPr/>
          <p:nvPr/>
        </p:nvPicPr>
        <p:blipFill rotWithShape="1">
          <a:blip r:embed="rId5"/>
          <a:srcRect l="75951" t="14425" b="17892"/>
          <a:stretch/>
        </p:blipFill>
        <p:spPr bwMode="auto">
          <a:xfrm>
            <a:off x="7601337" y="75657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CuadroTexto 4"/>
          <p:cNvSpPr txBox="1"/>
          <p:nvPr/>
        </p:nvSpPr>
        <p:spPr>
          <a:xfrm>
            <a:off x="609601" y="1979916"/>
            <a:ext cx="76573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Mayor acceso a información clara y organizada sobre el futuro académico</a:t>
            </a:r>
          </a:p>
          <a:p>
            <a:endParaRPr lang="es-ES" dirty="0"/>
          </a:p>
          <a:p>
            <a:r>
              <a:rPr lang="es-ES" dirty="0"/>
              <a:t>Mejora en la toma de decisiones de los jóvenes </a:t>
            </a:r>
          </a:p>
          <a:p>
            <a:endParaRPr lang="es-ES" dirty="0"/>
          </a:p>
          <a:p>
            <a:r>
              <a:rPr lang="es-ES" dirty="0"/>
              <a:t>Incremento del conocimiento en educación financiera </a:t>
            </a:r>
            <a:endParaRPr lang="en-US" dirty="0"/>
          </a:p>
          <a:p>
            <a:endParaRPr lang="en-US" dirty="0"/>
          </a:p>
        </p:txBody>
      </p:sp>
      <p:sp>
        <p:nvSpPr>
          <p:cNvPr id="6" name="CuadroTexto 5"/>
          <p:cNvSpPr txBox="1"/>
          <p:nvPr/>
        </p:nvSpPr>
        <p:spPr>
          <a:xfrm>
            <a:off x="609601" y="3312522"/>
            <a:ext cx="213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Productos  esperados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7" name="CuadroTexto 6"/>
          <p:cNvSpPr txBox="1"/>
          <p:nvPr/>
        </p:nvSpPr>
        <p:spPr>
          <a:xfrm>
            <a:off x="608667" y="3574132"/>
            <a:ext cx="682752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Una pagina web estructurada y fácil de usar</a:t>
            </a:r>
          </a:p>
          <a:p>
            <a:endParaRPr lang="es-ES" sz="1200" dirty="0"/>
          </a:p>
          <a:p>
            <a:r>
              <a:rPr lang="es-ES" sz="1200" dirty="0"/>
              <a:t>Secciones informativas sobre universidades, becas y empleo juvenil</a:t>
            </a:r>
          </a:p>
          <a:p>
            <a:endParaRPr lang="es-ES" sz="1200" dirty="0"/>
          </a:p>
          <a:p>
            <a:r>
              <a:rPr lang="es-ES" sz="1200" dirty="0"/>
              <a:t>Herramientas básicas para el manejo del dinero</a:t>
            </a:r>
          </a:p>
          <a:p>
            <a:endParaRPr lang="es-ES" sz="1200" dirty="0"/>
          </a:p>
          <a:p>
            <a:r>
              <a:rPr lang="es-ES" sz="1200" dirty="0"/>
              <a:t>Un recurso digital accesible que apoye el crecimiento personal y profesional de los jóvenes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70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5"/>
          <p:cNvSpPr txBox="1"/>
          <p:nvPr/>
        </p:nvSpPr>
        <p:spPr>
          <a:xfrm>
            <a:off x="1437087" y="1022596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  <a:defRPr sz="2800"/>
            </a:pPr>
            <a:r>
              <a:rPr lang="es-ES" sz="2800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CRONO</a:t>
            </a:r>
            <a:r>
              <a:rPr lang="es-ES" sz="2800" b="1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GRAMA</a:t>
            </a:r>
            <a:endParaRPr lang="es-CO" sz="2800" b="1" dirty="0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6" name="Google Shape;49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320" y="4641223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10;p5">
            <a:extLst>
              <a:ext uri="{FF2B5EF4-FFF2-40B4-BE49-F238E27FC236}">
                <a16:creationId xmlns:a16="http://schemas.microsoft.com/office/drawing/2014/main" id="{A8AE2FB6-62B4-5F75-4F30-1315B9E10AC6}"/>
              </a:ext>
            </a:extLst>
          </p:cNvPr>
          <p:cNvSpPr txBox="1"/>
          <p:nvPr/>
        </p:nvSpPr>
        <p:spPr>
          <a:xfrm>
            <a:off x="725459" y="1693396"/>
            <a:ext cx="7422356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CO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Análisis: </a:t>
            </a:r>
            <a:r>
              <a:rPr lang="es-CO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identificación del problema y necesidades</a:t>
            </a:r>
          </a:p>
          <a:p>
            <a:pPr lvl="0" algn="just"/>
            <a:endParaRPr lang="es-CO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just"/>
            <a:r>
              <a:rPr lang="es-CO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Investigación: </a:t>
            </a:r>
            <a:r>
              <a:rPr lang="es-CO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búsqueda de información (universidades, becas,etc.)</a:t>
            </a:r>
          </a:p>
          <a:p>
            <a:pPr lvl="0" algn="just"/>
            <a:endParaRPr lang="es-CO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just"/>
            <a:r>
              <a:rPr lang="es-CO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Diseño:</a:t>
            </a:r>
            <a:r>
              <a:rPr lang="es-CO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estructura y organización de la plataforma</a:t>
            </a:r>
          </a:p>
          <a:p>
            <a:pPr lvl="0" algn="just"/>
            <a:endParaRPr lang="es-CO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just"/>
            <a:r>
              <a:rPr lang="es-CO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Desarrollo:</a:t>
            </a:r>
            <a:r>
              <a:rPr lang="es-CO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creación de la pagina web</a:t>
            </a:r>
          </a:p>
          <a:p>
            <a:pPr lvl="0" algn="just"/>
            <a:endParaRPr lang="es-CO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just"/>
            <a:r>
              <a:rPr lang="es-CO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Pruebas:</a:t>
            </a:r>
            <a:r>
              <a:rPr lang="es-CO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revisión de corrección de errores</a:t>
            </a:r>
          </a:p>
          <a:p>
            <a:pPr lvl="0" algn="just"/>
            <a:endParaRPr lang="es-CO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just"/>
            <a:r>
              <a:rPr lang="es-CO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Implementación: </a:t>
            </a:r>
            <a:r>
              <a:rPr lang="es-CO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del proyecto</a:t>
            </a:r>
          </a:p>
          <a:p>
            <a:pPr algn="just"/>
            <a:r>
              <a:rPr lang="es-CO" altLang="es-CO" sz="1800" dirty="0" smtClean="0">
                <a:latin typeface="Calibri Light" panose="020F0302020204030204" pitchFamily="34" charset="0"/>
              </a:rPr>
              <a:t>.</a:t>
            </a:r>
            <a:endParaRPr lang="es-CO" altLang="es-CO" sz="1800" dirty="0">
              <a:latin typeface="Calibri Light" panose="020F0302020204030204" pitchFamily="34" charset="0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CO" sz="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3.jpg">
            <a:extLst>
              <a:ext uri="{FF2B5EF4-FFF2-40B4-BE49-F238E27FC236}">
                <a16:creationId xmlns:a16="http://schemas.microsoft.com/office/drawing/2014/main" id="{EDF22F87-D309-3D63-BD99-560DC08BD351}"/>
              </a:ext>
            </a:extLst>
          </p:cNvPr>
          <p:cNvPicPr/>
          <p:nvPr/>
        </p:nvPicPr>
        <p:blipFill rotWithShape="1">
          <a:blip r:embed="rId5"/>
          <a:srcRect l="75951" t="14425" b="17892"/>
          <a:stretch/>
        </p:blipFill>
        <p:spPr bwMode="auto">
          <a:xfrm>
            <a:off x="7601337" y="75657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86439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5"/>
          <p:cNvSpPr txBox="1"/>
          <p:nvPr/>
        </p:nvSpPr>
        <p:spPr>
          <a:xfrm>
            <a:off x="1437087" y="1022596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  <a:defRPr sz="2800"/>
            </a:pPr>
            <a:r>
              <a:rPr lang="es-ES" sz="2800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BIBLIO</a:t>
            </a:r>
            <a:r>
              <a:rPr lang="es-ES" sz="2800" b="1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GRAFÍA</a:t>
            </a:r>
            <a:endParaRPr lang="es-CO" sz="2800" b="1" dirty="0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6" name="Google Shape;49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10;p5">
            <a:extLst>
              <a:ext uri="{FF2B5EF4-FFF2-40B4-BE49-F238E27FC236}">
                <a16:creationId xmlns:a16="http://schemas.microsoft.com/office/drawing/2014/main" id="{A8AE2FB6-62B4-5F75-4F30-1315B9E10AC6}"/>
              </a:ext>
            </a:extLst>
          </p:cNvPr>
          <p:cNvSpPr txBox="1"/>
          <p:nvPr/>
        </p:nvSpPr>
        <p:spPr>
          <a:xfrm>
            <a:off x="725459" y="1895874"/>
            <a:ext cx="7422356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defRPr sz="1800"/>
            </a:pPr>
            <a:r>
              <a:t>Ministerio de Educación Nacional. (2024). https://www.mineducacion.gov.co</a:t>
            </a:r>
          </a:p>
          <a:p>
            <a:pPr>
              <a:defRPr sz="1800"/>
            </a:pPr>
            <a:r>
              <a:t>ICETEX. (2024). https://www.icetex.gov.co</a:t>
            </a:r>
          </a:p>
          <a:p>
            <a:pPr>
              <a:defRPr sz="1800"/>
            </a:pPr>
            <a:r>
              <a:t>DANE. (2024). https://www.dane.gov.co</a:t>
            </a:r>
          </a:p>
          <a:p>
            <a:pPr>
              <a:defRPr sz="1800"/>
            </a:pPr>
            <a:r>
              <a:t>Banco de la República. (2024). Educación económica y financiera. https://www.banrep.gov.co</a:t>
            </a:r>
          </a:p>
          <a:p>
            <a:pPr>
              <a:defRPr sz="1800"/>
            </a:pPr>
            <a:r>
              <a:t>MinTIC. (2024). https://www.mintic.gov.co</a:t>
            </a:r>
          </a:p>
        </p:txBody>
      </p:sp>
      <p:pic>
        <p:nvPicPr>
          <p:cNvPr id="2" name="image3.jpg">
            <a:extLst>
              <a:ext uri="{FF2B5EF4-FFF2-40B4-BE49-F238E27FC236}">
                <a16:creationId xmlns:a16="http://schemas.microsoft.com/office/drawing/2014/main" id="{34D2BEB8-8839-8BBE-F48F-EB12265410F1}"/>
              </a:ext>
            </a:extLst>
          </p:cNvPr>
          <p:cNvPicPr/>
          <p:nvPr/>
        </p:nvPicPr>
        <p:blipFill rotWithShape="1">
          <a:blip r:embed="rId5"/>
          <a:srcRect l="75951" t="14425" b="17892"/>
          <a:stretch/>
        </p:blipFill>
        <p:spPr bwMode="auto">
          <a:xfrm>
            <a:off x="7601337" y="75657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1622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2"/>
          <p:cNvSpPr/>
          <p:nvPr/>
        </p:nvSpPr>
        <p:spPr>
          <a:xfrm>
            <a:off x="4768525" y="2956222"/>
            <a:ext cx="1293300" cy="1293300"/>
          </a:xfrm>
          <a:prstGeom prst="ellipse">
            <a:avLst/>
          </a:prstGeom>
          <a:solidFill>
            <a:srgbClr val="ACE57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7" name="Google Shape;657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17946" y="1154050"/>
            <a:ext cx="3643028" cy="3027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22"/>
          <p:cNvPicPr preferRelativeResize="0"/>
          <p:nvPr/>
        </p:nvPicPr>
        <p:blipFill rotWithShape="1">
          <a:blip r:embed="rId5">
            <a:alphaModFix/>
          </a:blip>
          <a:srcRect l="9033" t="9933" b="12335"/>
          <a:stretch/>
        </p:blipFill>
        <p:spPr>
          <a:xfrm>
            <a:off x="5381885" y="1488969"/>
            <a:ext cx="2975078" cy="169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2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10194" y="3867257"/>
            <a:ext cx="826981" cy="128237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22"/>
          <p:cNvSpPr txBox="1"/>
          <p:nvPr/>
        </p:nvSpPr>
        <p:spPr>
          <a:xfrm>
            <a:off x="678450" y="806098"/>
            <a:ext cx="3810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  <a:defRPr sz="2800"/>
            </a:pPr>
            <a:r>
              <a:rPr lang="es-ES" sz="3400" b="0" i="0" u="none" strike="noStrike" cap="none" dirty="0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INTEGRANTES DEL GRUPO</a:t>
            </a:r>
            <a:endParaRPr sz="3400" b="1" i="0" u="none" strike="noStrike" cap="none" dirty="0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2"/>
          <p:cNvSpPr txBox="1"/>
          <p:nvPr/>
        </p:nvSpPr>
        <p:spPr>
          <a:xfrm>
            <a:off x="762000" y="2026375"/>
            <a:ext cx="3642900" cy="306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2800"/>
            </a:pPr>
            <a:r>
              <a:rPr lang="es" sz="1700" dirty="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NOMBRES Y </a:t>
            </a:r>
            <a:r>
              <a:rPr lang="es" sz="1700" dirty="0" smtClean="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APELLIDOS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700" dirty="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just">
              <a:buSzPts val="1600"/>
            </a:pPr>
            <a:r>
              <a:rPr lang="es" sz="1700" dirty="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Mateo Cano Ramirez</a:t>
            </a:r>
          </a:p>
          <a:p>
            <a:pPr lvl="0" algn="just">
              <a:buSzPts val="1600"/>
            </a:pPr>
            <a:r>
              <a:rPr lang="es" sz="1700" dirty="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Tomas Cano Ramirez </a:t>
            </a:r>
          </a:p>
          <a:p>
            <a:pPr lvl="0" algn="just">
              <a:buSzPts val="1600"/>
            </a:pPr>
            <a:r>
              <a:rPr lang="es" sz="1700" dirty="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Andres Arboleda Chavarria</a:t>
            </a:r>
          </a:p>
          <a:p>
            <a:pPr lvl="0" algn="just">
              <a:buSzPts val="1600"/>
            </a:pPr>
            <a:r>
              <a:rPr lang="es" sz="1700" dirty="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Danna Sofia Jimenez  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700" dirty="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700" b="0" i="0" u="none" strike="noStrike" cap="none" dirty="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700" dirty="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700" b="0" i="0" u="none" strike="noStrike" cap="none" dirty="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700" b="0" i="0" u="none" strike="noStrike" cap="none" dirty="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2"/>
          <p:cNvSpPr txBox="1"/>
          <p:nvPr/>
        </p:nvSpPr>
        <p:spPr>
          <a:xfrm>
            <a:off x="882375" y="3873925"/>
            <a:ext cx="8661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800"/>
            </a:pPr>
            <a:r>
              <a:rPr lang="es" sz="19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XX</a:t>
            </a:r>
            <a:endParaRPr sz="19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image3.jpg">
            <a:extLst>
              <a:ext uri="{FF2B5EF4-FFF2-40B4-BE49-F238E27FC236}">
                <a16:creationId xmlns:a16="http://schemas.microsoft.com/office/drawing/2014/main" id="{5A767EC3-0C2B-27D0-A6FC-572AE869C041}"/>
              </a:ext>
            </a:extLst>
          </p:cNvPr>
          <p:cNvPicPr/>
          <p:nvPr/>
        </p:nvPicPr>
        <p:blipFill rotWithShape="1">
          <a:blip r:embed="rId7"/>
          <a:srcRect l="75951" t="14425" b="17892"/>
          <a:stretch/>
        </p:blipFill>
        <p:spPr bwMode="auto">
          <a:xfrm>
            <a:off x="7601337" y="75657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jpg">
            <a:extLst>
              <a:ext uri="{FF2B5EF4-FFF2-40B4-BE49-F238E27FC236}">
                <a16:creationId xmlns:a16="http://schemas.microsoft.com/office/drawing/2014/main" id="{AA2B868A-41CF-6C4D-1FD6-6278E87C849E}"/>
              </a:ext>
            </a:extLst>
          </p:cNvPr>
          <p:cNvPicPr/>
          <p:nvPr/>
        </p:nvPicPr>
        <p:blipFill rotWithShape="1">
          <a:blip r:embed="rId4"/>
          <a:srcRect l="75951" t="14425" b="17892"/>
          <a:stretch/>
        </p:blipFill>
        <p:spPr bwMode="auto">
          <a:xfrm>
            <a:off x="7595116" y="106759"/>
            <a:ext cx="1331171" cy="714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F6FD4A4-6F4B-3E48-6660-19B52ECBAFD6}"/>
              </a:ext>
            </a:extLst>
          </p:cNvPr>
          <p:cNvSpPr txBox="1"/>
          <p:nvPr/>
        </p:nvSpPr>
        <p:spPr>
          <a:xfrm>
            <a:off x="1822580" y="3293225"/>
            <a:ext cx="3087286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   Formar- Servir - Cuidar</a:t>
            </a:r>
            <a:endParaRPr lang="es-CO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15583"/>
      </a:dk1>
      <a:lt1>
        <a:srgbClr val="FFFFFF"/>
      </a:lt1>
      <a:dk2>
        <a:srgbClr val="434343"/>
      </a:dk2>
      <a:lt2>
        <a:srgbClr val="EEEEEE"/>
      </a:lt2>
      <a:accent1>
        <a:srgbClr val="05ADBC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1400</TotalTime>
  <Words>606</Words>
  <Application>Microsoft Office PowerPoint</Application>
  <PresentationFormat>Presentación en pantalla (16:9)</PresentationFormat>
  <Paragraphs>81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Calibri</vt:lpstr>
      <vt:lpstr>MS PGothic</vt:lpstr>
      <vt:lpstr>Arial Narrow</vt:lpstr>
      <vt:lpstr>Arial</vt:lpstr>
      <vt:lpstr>Calibri Light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Natalia Andrea Saldarriaga</dc:creator>
  <cp:lastModifiedBy>Usuario</cp:lastModifiedBy>
  <cp:revision>9</cp:revision>
  <dcterms:modified xsi:type="dcterms:W3CDTF">2026-08-06T20:43:51Z</dcterms:modified>
</cp:coreProperties>
</file>